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97DD97-2CCD-CC67-9A79-8B391758C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6003FB-635A-24FB-6436-C5021458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D10AFA-D086-0421-5FD5-66DD0261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B9017D-AC5D-E062-E756-44CA3A51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6AA995-0845-BBC5-E6A0-0E90404B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09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303F6C-008F-C662-24B4-7212BE9B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D97A09-C6BF-996F-31F7-D9A83D3A6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40A4AF-3B38-FD39-43F3-3490F8BE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6F8AC1-C1B7-F4CB-0980-1B33FD42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3666E4-2BD2-7A09-FF22-32D1640E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0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DACD0-3D62-D8D4-58F4-69357630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641FD2-6E3A-625B-3CF7-C81B8ED11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0779FB-C1C2-E12C-98D8-D2FB011E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C5635C-8520-6C29-CAAA-AC379394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7C5AC6-CD54-C2E6-3421-0CCDAF2A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85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56708-94C4-487A-AAA8-6D5E9424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1A4F92-3E75-5E3C-1A21-44D21A02C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04D033-C450-722A-C908-24A10BB4B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9EF8D3-31F5-F1AE-0F72-47210314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92E40A-FC3A-D768-071A-AAE8B0EB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3F41F-49D8-6E5A-783D-53DB19B1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110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C16351-31E6-CCFE-3BD2-06BAD49D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A88D46-1538-34C6-054D-04330575B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8B229C-E943-3B75-E0F9-3A90530C4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B47FACF-7B61-2D68-F8FC-858AA7467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50F3AB1-1EBB-ED99-7F03-EC3DD1974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E926583-3AF9-371C-D08B-DCD6A7B2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9BD7A6-5CCC-D080-BA3B-99E733F3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BAD08E-4FBB-7077-FB70-40E8788E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56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CD298-1719-B051-89F6-527A2208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68086E-35B8-B6C5-0C62-D8CC4B2D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412A103-A047-C5DE-36D7-FE312B1A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C56095-C8CE-BE6D-2CE8-D669B02C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82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1E661AA-161E-2D45-0462-BA91E982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30B44F-AD48-3794-4B15-8C037123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843016-E032-C1C9-C965-BC94CC78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50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223FFF-5B0C-2042-989C-6853C056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BC5525-9D6A-1BD2-6C5A-D93E4017D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E5C75D-3D54-08A1-6B03-C70C8516C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8407B9-526B-AD48-3DE6-036EB3B3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3DC740-3C20-5F65-3DA3-A385E9EE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623CF6-FC22-F9A5-BBCE-DE7F2B5C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82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08DFD-D653-6F46-E6FF-65C69873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8DE9CF-5A11-320F-AC0C-12A1BF8EE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6ADECF-882C-AC39-15D1-A5C398D25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F940B9-E784-9EDC-BD70-6B0024BD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57FE20-CC52-7CC7-E8C8-FB6A9F87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619E12-B6C8-F29D-6D8C-2149924D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6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E72D29-43DA-3F90-0774-17439B7F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60E87F-26E8-96AC-C00E-B8829BF5A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53B621-3276-C74F-151D-85BE2660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5FF931-62DE-9EDB-B1FA-65F1EFBE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C0BC98-6F6B-95C3-2869-90E394AE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56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08DC835-354C-FFB1-2F53-CAC259E18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B069E55-3A40-62FB-75C7-94510AF5A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BC14E7-DBC4-3F92-2273-8ADE4E20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C51CB7-80CD-AD67-1A1B-D7BB3FFC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517225-6C1E-B99B-D6E4-D5A34EF8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87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80A067-018F-51A5-C451-692082F0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A5E137-6AC3-4E83-BBAF-4498FFF5C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8C4D55-53F5-8FD0-2B3F-572EE691A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2DFC2-5ABA-44FD-9782-9DFF8C4E5CBB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F82270-9B87-F718-3F54-09DBFA444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99B9B3-BA88-21E6-B576-45C52ADDA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1BE3B-9BBE-4842-8FAA-6A45CDF3A5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289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15D00B6-C034-7A8B-C147-E349390C958B}"/>
              </a:ext>
            </a:extLst>
          </p:cNvPr>
          <p:cNvSpPr txBox="1"/>
          <p:nvPr/>
        </p:nvSpPr>
        <p:spPr>
          <a:xfrm>
            <a:off x="812972" y="612476"/>
            <a:ext cx="10282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5">
                    <a:lumMod val="75000"/>
                  </a:schemeClr>
                </a:solidFill>
              </a:rPr>
              <a:t>PREDICTIVE MODELING OF CUSTOMER BOOKINGS</a:t>
            </a:r>
          </a:p>
        </p:txBody>
      </p:sp>
      <p:pic>
        <p:nvPicPr>
          <p:cNvPr id="6" name="Image 5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6D5BE7CD-7B02-61FB-EFFB-2BFA27CC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" y="1376261"/>
            <a:ext cx="5203547" cy="416007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48C76A6-2D41-5634-3F90-E15F7E102D24}"/>
              </a:ext>
            </a:extLst>
          </p:cNvPr>
          <p:cNvSpPr txBox="1"/>
          <p:nvPr/>
        </p:nvSpPr>
        <p:spPr>
          <a:xfrm>
            <a:off x="5663380" y="1135696"/>
            <a:ext cx="6204156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1. Model Performance &amp;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Overall Accuracy:</a:t>
            </a:r>
            <a:r>
              <a:rPr lang="en-US" sz="1400" dirty="0"/>
              <a:t> </a:t>
            </a:r>
            <a:r>
              <a:rPr lang="en-US" sz="1400" b="1" dirty="0"/>
              <a:t>84.9%</a:t>
            </a:r>
            <a:r>
              <a:rPr lang="en-US" sz="1400" dirty="0"/>
              <a:t> (The model correctly identifies booking intent for 8 out of 10 customers).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Stability:</a:t>
            </a:r>
            <a:r>
              <a:rPr lang="en-US" sz="1400" dirty="0"/>
              <a:t> Successfully validated through </a:t>
            </a:r>
            <a:r>
              <a:rPr lang="en-US" sz="1400" b="1" dirty="0"/>
              <a:t>Cross-Validation</a:t>
            </a:r>
            <a:r>
              <a:rPr lang="en-US" sz="1400" dirty="0"/>
              <a:t> (mean score of 68%), ensuring the model generalizes well to new, unseen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Class Handling:</a:t>
            </a:r>
            <a:r>
              <a:rPr lang="en-US" sz="1400" dirty="0"/>
              <a:t> Adjusted for data imbalance (15% conversion rate) using balanced class weights to ensure high-quality predictions for actual buyers.</a:t>
            </a: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2. Key Predictive Findings (Top 3 Insights)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Purchase Lead (26.8%):</a:t>
            </a:r>
            <a:r>
              <a:rPr lang="en-US" sz="1400" dirty="0"/>
              <a:t> The time between searching and the flight is the strongest indicator of booking completion.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Flight Hour (18.9%):</a:t>
            </a:r>
            <a:r>
              <a:rPr lang="en-US" sz="1400" dirty="0"/>
              <a:t> Customer engagement timing significantly correlates with higher conversion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Length of Stay (17.9%):</a:t>
            </a:r>
            <a:r>
              <a:rPr lang="en-US" sz="1400" dirty="0"/>
              <a:t> Shorter to medium-duration trips show a much higher probability of being finalized compared to long-term stays.</a:t>
            </a: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3. Strategic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Targeted Marketing:</a:t>
            </a:r>
            <a:r>
              <a:rPr lang="en-US" sz="1400" dirty="0"/>
              <a:t> Direct advertising budget toward customers with "Purchase Lead" profiles that match our high-conversion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Personalization:</a:t>
            </a:r>
            <a:r>
              <a:rPr lang="en-US" sz="1400" dirty="0"/>
              <a:t> Implement real-time personalized offers for customers searching during peak conversion "Flight Hours."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Conversion Optimization:</a:t>
            </a:r>
            <a:r>
              <a:rPr lang="en-US" sz="1400" dirty="0"/>
              <a:t> Simplify the booking path for flight routes and durations identified as "High Intent" by the model</a:t>
            </a:r>
            <a:r>
              <a:rPr lang="en-US" dirty="0"/>
              <a:t>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18EB430-ABC9-4B28-AAC8-39F945368A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3" y="0"/>
            <a:ext cx="2890684" cy="43090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DACD329-7E6A-4522-A449-F58E6D7197F4}"/>
              </a:ext>
            </a:extLst>
          </p:cNvPr>
          <p:cNvSpPr txBox="1"/>
          <p:nvPr/>
        </p:nvSpPr>
        <p:spPr>
          <a:xfrm>
            <a:off x="0" y="6543814"/>
            <a:ext cx="6098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</a:rPr>
              <a:t>Model based on a </a:t>
            </a:r>
            <a:r>
              <a:rPr lang="en-US" sz="1200" b="1" i="1" dirty="0" err="1">
                <a:solidFill>
                  <a:schemeClr val="bg2">
                    <a:lumMod val="75000"/>
                  </a:schemeClr>
                </a:solidFill>
              </a:rPr>
              <a:t>RandomForest</a:t>
            </a:r>
            <a:r>
              <a:rPr lang="en-US" sz="1200" b="1" i="1" dirty="0">
                <a:solidFill>
                  <a:schemeClr val="bg2">
                    <a:lumMod val="75000"/>
                  </a:schemeClr>
                </a:solidFill>
              </a:rPr>
              <a:t> algorithm trained on 50,000 rows of data.</a:t>
            </a:r>
            <a:endParaRPr lang="fr-FR" sz="12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4420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221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Carele Diffo</dc:creator>
  <cp:lastModifiedBy>Carele Diffo</cp:lastModifiedBy>
  <cp:revision>5</cp:revision>
  <dcterms:created xsi:type="dcterms:W3CDTF">2025-12-18T03:43:35Z</dcterms:created>
  <dcterms:modified xsi:type="dcterms:W3CDTF">2025-12-18T04:02:00Z</dcterms:modified>
</cp:coreProperties>
</file>